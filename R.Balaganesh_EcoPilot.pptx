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78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65" r:id="rId20"/>
    <p:sldId id="266" r:id="rId21"/>
    <p:sldId id="26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77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98BC-753F-CC85-851B-E9674938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2FFE8-F85E-978B-0EE6-97E9695D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B2A87-4160-CCE2-E07D-8FA8927C7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9A2AE-FC3C-2648-EC1B-E104DAA56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25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rbalaganesh2307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801483" y="419264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lea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14" y="610242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03075" y="1101333"/>
            <a:ext cx="28999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EcoPilot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3976707" y="2168440"/>
            <a:ext cx="4654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Campus Sustainability Assistant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732487" y="2850192"/>
            <a:ext cx="2926080" cy="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 txBox="1"/>
          <p:nvPr/>
        </p:nvSpPr>
        <p:spPr>
          <a:xfrm>
            <a:off x="4216490" y="2802603"/>
            <a:ext cx="3944982" cy="1310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E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AE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&amp; AICTE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F9EB3-A49B-3F35-3EF8-92C5B0038CA5}"/>
              </a:ext>
            </a:extLst>
          </p:cNvPr>
          <p:cNvSpPr txBox="1"/>
          <p:nvPr/>
        </p:nvSpPr>
        <p:spPr>
          <a:xfrm>
            <a:off x="-802433" y="28551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C5595AFA-AAA4-46F9-ECCE-3ED4D2954A80}"/>
              </a:ext>
            </a:extLst>
          </p:cNvPr>
          <p:cNvSpPr/>
          <p:nvPr/>
        </p:nvSpPr>
        <p:spPr>
          <a:xfrm>
            <a:off x="3052355" y="4083078"/>
            <a:ext cx="6309360" cy="9144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985FA22-005A-BD20-9A55-AAA14661867D}"/>
              </a:ext>
            </a:extLst>
          </p:cNvPr>
          <p:cNvSpPr txBox="1"/>
          <p:nvPr/>
        </p:nvSpPr>
        <p:spPr>
          <a:xfrm>
            <a:off x="3235235" y="417451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 12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and Production</a:t>
            </a:r>
            <a:endParaRPr lang="en-US" sz="16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A0EE585-983D-B438-732E-514C86783BF9}"/>
              </a:ext>
            </a:extLst>
          </p:cNvPr>
          <p:cNvSpPr/>
          <p:nvPr/>
        </p:nvSpPr>
        <p:spPr>
          <a:xfrm>
            <a:off x="6191157" y="4212777"/>
            <a:ext cx="0" cy="640080"/>
          </a:xfrm>
          <a:prstGeom prst="line">
            <a:avLst/>
          </a:prstGeom>
          <a:noFill/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1867EC52-8439-82FA-43C4-C6DF64ADC65D}"/>
              </a:ext>
            </a:extLst>
          </p:cNvPr>
          <p:cNvSpPr txBox="1"/>
          <p:nvPr/>
        </p:nvSpPr>
        <p:spPr>
          <a:xfrm>
            <a:off x="6291622" y="408477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SDG 11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and Communities</a:t>
            </a:r>
            <a:endParaRPr lang="en-US" sz="1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65D196C-D1C0-A324-4FD8-239F5F22B007}"/>
              </a:ext>
            </a:extLst>
          </p:cNvPr>
          <p:cNvSpPr txBox="1"/>
          <p:nvPr/>
        </p:nvSpPr>
        <p:spPr>
          <a:xfrm>
            <a:off x="3302730" y="5318443"/>
            <a:ext cx="5841272" cy="1140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R Balaganesh</a:t>
            </a:r>
            <a:endParaRPr lang="en-US" sz="2000" b="1" dirty="0"/>
          </a:p>
          <a:p>
            <a:pPr algn="ctr"/>
            <a:r>
              <a:rPr lang="en-US" sz="2000" b="1" dirty="0">
                <a:solidFill>
                  <a:srgbClr val="AE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STUDENT ID : </a:t>
            </a:r>
            <a:r>
              <a:rPr lang="en-IN" sz="2000" b="1" dirty="0">
                <a:solidFill>
                  <a:schemeClr val="bg1"/>
                </a:solidFill>
              </a:rPr>
              <a:t>STU6585af04dfa0c1703259908</a:t>
            </a:r>
            <a:endParaRPr lang="en-US" sz="20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AEC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Achariya College of Engineering Technology 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Sustainability Awareness to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79" y="1600200"/>
            <a:ext cx="56857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encounter sustainability challenges every day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awareness does not always translate into daily action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different lifestyles and constraints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personalized guidance is limited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371600"/>
            <a:ext cx="4754880" cy="2834640"/>
          </a:xfrm>
          <a:prstGeom prst="roundRect">
            <a:avLst>
              <a:gd name="adj" fmla="val 38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ecopilot/icons_bulb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18452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38160" y="2011680"/>
            <a:ext cx="1737360" cy="0"/>
          </a:xfrm>
          <a:prstGeom prst="line">
            <a:avLst/>
          </a:prstGeom>
          <a:noFill/>
          <a:ln w="25400">
            <a:solidFill>
              <a:srgbClr val="74C69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81381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149840" y="1691640"/>
            <a:ext cx="640080" cy="640080"/>
          </a:xfrm>
          <a:prstGeom prst="ellipse">
            <a:avLst/>
          </a:prstGeom>
          <a:solidFill>
            <a:srgbClr val="74C69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ecopilot/icons_check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59" y="1845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126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“Awareness → Action Gap”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student’s constraints — budget, hostel vs. day-scholar, transport — are different.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ecopilot/icons_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6817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645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A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might we use AI to provide students with personalized and practical sustainability guidance so that everyday campus lifestyles can become more responsible and sustainable?"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852160" cy="4572000"/>
          </a:xfrm>
          <a:prstGeom prst="roundRect">
            <a:avLst>
              <a:gd name="adj" fmla="val 24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and Production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290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usage in daily campus life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plastic usage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choices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conservation &amp; sustainable actions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75120" y="1463040"/>
            <a:ext cx="4937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9951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19202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9951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313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and Communities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833705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sustainable campus communities by encouraging environmentally responsible behavior in everyday campus life.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3794760"/>
            <a:ext cx="4937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49440" y="4023360"/>
            <a:ext cx="502920" cy="50292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0" descr="/home/claude/ecopilot/icons_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1" y="414406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5895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EcoPilot encourages more sustainable everyday behavior. It does not directly measure SDG progress.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DESIGN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55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Users: College Students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ecopilot/icons_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Students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ecopilot/icons_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581" y="21781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519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Scholars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355080" y="2057400"/>
            <a:ext cx="502920" cy="50292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ecopilot/icons_bu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951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Transport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098280" y="2057400"/>
            <a:ext cx="502920" cy="50292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ecopilot/icons_leaf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981" y="217810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383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Sustainability-Minded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stakeholders: campus sustainability teams, college administrators, student communities.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Process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548640" y="44348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1234440" y="46177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ecopilot/icons_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059" y="47713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2560320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2743200" y="44348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3429000" y="46177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/home/claude/ecopilot/icons_targ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619" y="477133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74320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754880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4937760" y="44348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5623560" y="46177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/home/claude/ecopilot/icons_bul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7179" y="4771339"/>
            <a:ext cx="332842" cy="33284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93776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949440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5"/>
          <p:cNvSpPr/>
          <p:nvPr/>
        </p:nvSpPr>
        <p:spPr>
          <a:xfrm>
            <a:off x="7132320" y="44348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7818120" y="46177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7" descr="/home/claude/ecopilot/icons_cube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1739" y="4771339"/>
            <a:ext cx="332842" cy="33284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13232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9144000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29"/>
          <p:cNvSpPr/>
          <p:nvPr/>
        </p:nvSpPr>
        <p:spPr>
          <a:xfrm>
            <a:off x="9326880" y="44348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0"/>
          <p:cNvSpPr/>
          <p:nvPr/>
        </p:nvSpPr>
        <p:spPr>
          <a:xfrm>
            <a:off x="10012680" y="46177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8" descr="/home/claude/ecopilot/icons_refresh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6299" y="4771339"/>
            <a:ext cx="332842" cy="33284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32688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40407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APPLIED TO ECOPILOT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6661" cy="3794760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6210" y="1673352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ecopilot/icons_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775" y="1848917"/>
            <a:ext cx="380390" cy="3803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56562" y="158191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56562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14600"/>
            <a:ext cx="1812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Empathize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108960"/>
            <a:ext cx="172090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facing daily sustainability choices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plastic, transport, resource wastage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rarely turns into personalized action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635301" y="30861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99893" y="1417320"/>
            <a:ext cx="2086661" cy="3794760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7463" y="1673352"/>
            <a:ext cx="731520" cy="731520"/>
          </a:xfrm>
          <a:prstGeom prst="ellipse">
            <a:avLst/>
          </a:prstGeom>
          <a:solidFill>
            <a:srgbClr val="2A6F6F"/>
          </a:solidFill>
          <a:ln/>
        </p:spPr>
      </p:sp>
      <p:pic>
        <p:nvPicPr>
          <p:cNvPr id="14" name="Image 1" descr="/home/claude/ecopilot/icons_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1848917"/>
            <a:ext cx="380390" cy="38039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07815" y="158191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6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007815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937053" y="2514600"/>
            <a:ext cx="1812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3001061" y="31089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HMW give students personalized, practical sustainability guidance?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hostel students, day scholars, varied transport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personalized, easy-to-follow guidance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886554" y="30861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51146" y="1417320"/>
            <a:ext cx="2086661" cy="3794760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28716" y="1673352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2" name="Image 2" descr="/home/claude/ecopilot/icons_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281" y="1848917"/>
            <a:ext cx="380390" cy="38039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59068" y="158191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259068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88306" y="2514600"/>
            <a:ext cx="1812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550" dirty="0"/>
          </a:p>
        </p:txBody>
      </p:sp>
      <p:sp>
        <p:nvSpPr>
          <p:cNvPr id="26" name="Text 21"/>
          <p:cNvSpPr txBox="1"/>
          <p:nvPr/>
        </p:nvSpPr>
        <p:spPr>
          <a:xfrm>
            <a:off x="5252314" y="31089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Chat + AI Eco Action Planner (AI-based)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Calculator &amp; Checklist for tracking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feasible: lightweight stack, no database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137806" y="30861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302398" y="1417320"/>
            <a:ext cx="2086661" cy="3794760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79969" y="1673352"/>
            <a:ext cx="731520" cy="731520"/>
          </a:xfrm>
          <a:prstGeom prst="ellipse">
            <a:avLst/>
          </a:prstGeom>
          <a:solidFill>
            <a:srgbClr val="2A6F6F"/>
          </a:solidFill>
          <a:ln/>
        </p:spPr>
      </p:sp>
      <p:pic>
        <p:nvPicPr>
          <p:cNvPr id="30" name="Image 3" descr="/home/claude/ecopilot/icons_cube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534" y="1848917"/>
            <a:ext cx="380390" cy="38039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510321" y="158191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6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510321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6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439558" y="2514600"/>
            <a:ext cx="1812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550" dirty="0"/>
          </a:p>
        </p:txBody>
      </p:sp>
      <p:sp>
        <p:nvSpPr>
          <p:cNvPr id="34" name="Text 28"/>
          <p:cNvSpPr txBox="1"/>
          <p:nvPr/>
        </p:nvSpPr>
        <p:spPr>
          <a:xfrm>
            <a:off x="7503566" y="3071636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Frontend → Express → /api/chat, /api/analyze → Groq LLM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 with profile allowlist sanitization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 area, priority, 3 recommendations, action for today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389059" y="30861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553651" y="1417320"/>
            <a:ext cx="2086661" cy="3794760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231222" y="1673352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8" name="Image 4" descr="/home/claude/ecopilot/icons_refres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6786" y="1848917"/>
            <a:ext cx="380390" cy="38039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761574" y="158191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761574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9690811" y="2514600"/>
            <a:ext cx="1812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Refine</a:t>
            </a:r>
            <a:endParaRPr lang="en-US" sz="1550" dirty="0"/>
          </a:p>
        </p:txBody>
      </p:sp>
      <p:sp>
        <p:nvSpPr>
          <p:cNvPr id="42" name="Text 35"/>
          <p:cNvSpPr txBox="1"/>
          <p:nvPr/>
        </p:nvSpPr>
        <p:spPr>
          <a:xfrm>
            <a:off x="9754819" y="3108960"/>
            <a:ext cx="168432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with IBM Bob on debugging &amp; UI refinement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checklist persistence &amp; calculator sync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Responsible AI: fairness, ethics, privacy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ECOPILOT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9238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4173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0" y="1737360"/>
            <a:ext cx="777240" cy="77724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ecopilot/icons_ch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19238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Chat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8321040" y="17373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ecopilot/icons_calcula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78" y="192389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2918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22960" y="3611880"/>
            <a:ext cx="777240" cy="77724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ecopilot/icons_checkli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8" y="379841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Checklist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297680" y="32918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572000" y="361188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/home/claude/ecopilot/icons_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538" y="379841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3212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Action Planner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8046720" y="32918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8321040" y="3611880"/>
            <a:ext cx="777240" cy="77724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/home/claude/ecopilot/icons_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578" y="3798418"/>
            <a:ext cx="404165" cy="40416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28116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Profile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 →  Self-Assessment  →  Personalized Guidance  →  Daily Action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ECOPILOT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018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04" y="1768084"/>
            <a:ext cx="304312" cy="304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874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3774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9306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ecopilot/icons_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104" y="1768084"/>
            <a:ext cx="304312" cy="304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231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069080" y="1874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062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7594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ecopilot/icons_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904" y="1768084"/>
            <a:ext cx="304312" cy="304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519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5897880" y="1874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0350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5882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ecopilot/icons_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704" y="1768084"/>
            <a:ext cx="304312" cy="304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807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/api/analyze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7726680" y="1874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8638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84170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ecopilot/icons_gea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7504" y="1768084"/>
            <a:ext cx="304312" cy="304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095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9555480" y="1874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9692640" y="14630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10245852" y="1627632"/>
            <a:ext cx="585216" cy="585216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ecopilot/icons_clou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6304" y="1768084"/>
            <a:ext cx="304312" cy="3043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38360" y="22677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</a:t>
            </a:r>
            <a:endParaRPr lang="en-US" sz="950" dirty="0"/>
          </a:p>
        </p:txBody>
      </p:sp>
      <p:sp>
        <p:nvSpPr>
          <p:cNvPr id="32" name="Text 24"/>
          <p:cNvSpPr txBox="1"/>
          <p:nvPr/>
        </p:nvSpPr>
        <p:spPr>
          <a:xfrm>
            <a:off x="1008126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6217920" y="32461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 txBox="1"/>
          <p:nvPr/>
        </p:nvSpPr>
        <p:spPr>
          <a:xfrm>
            <a:off x="6217920" y="32461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Response  →  EcoPilot UI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548640" y="44348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/home/claude/ecopilot/icons_databas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4" y="4795114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508760" y="4736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localStorage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86868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Actions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Profile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6217920" y="44348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A6F6F"/>
          </a:solidFill>
          <a:ln w="12700">
            <a:solidFill>
              <a:srgbClr val="2A6F6F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7" descr="/home/claude/ecopilot/icons_shield_2A6F6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3914" y="4795114"/>
            <a:ext cx="285293" cy="285293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178040" y="4736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Database Used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53796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database is not part of the current architecture. All persistent user data stays in the browser.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SUSTAINABILITY PLANNING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describes concern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0195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sustainability profile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5059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4864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validation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9923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allowlist sanitization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4787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9651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4515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4864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response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9379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4864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1463040"/>
            <a:ext cx="80467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88620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 Output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886200" y="2331720"/>
            <a:ext cx="438912" cy="438912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0" descr="/home/claude/ecopilot/icons_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539" y="2437059"/>
            <a:ext cx="228234" cy="22823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572000" y="2350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Area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886200" y="2880360"/>
            <a:ext cx="438912" cy="438912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1" descr="/home/claude/ecopilot/icons_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539" y="2985699"/>
            <a:ext cx="228234" cy="22823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4572000" y="28986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886200" y="3429000"/>
            <a:ext cx="438912" cy="438912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/home/claude/ecopilot/icons_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539" y="3534339"/>
            <a:ext cx="228234" cy="228234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4572000" y="34472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Summary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3886200" y="3977640"/>
            <a:ext cx="438912" cy="438912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/home/claude/ecopilot/icons_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539" y="4082979"/>
            <a:ext cx="228234" cy="22823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4572000" y="39959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3886200" y="4526280"/>
            <a:ext cx="438912" cy="438912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4" descr="/home/claude/ecopilot/icons_bol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1539" y="4631619"/>
            <a:ext cx="228234" cy="22823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4572000" y="45445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for Today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3886200" y="5166360"/>
            <a:ext cx="7406640" cy="777240"/>
          </a:xfrm>
          <a:prstGeom prst="roundRect">
            <a:avLst>
              <a:gd name="adj" fmla="val 14118"/>
            </a:avLst>
          </a:prstGeom>
          <a:solidFill>
            <a:srgbClr val="F7FAF8"/>
          </a:solidFill>
          <a:ln w="12700">
            <a:solidFill>
              <a:srgbClr val="E1E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 txBox="1"/>
          <p:nvPr/>
        </p:nvSpPr>
        <p:spPr>
          <a:xfrm>
            <a:off x="4114800" y="5257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includes an AI limitation / disclaimer note — guidance may not reflect every local campus policy, cost, or resource.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cha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Chat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Q&amp;A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4414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77240" y="24414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9C6B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ecopilot/icons_calcul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899" y="18452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habit score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26280" y="24414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9C6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4526280" y="24414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04672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ecopilot/icons_checkl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939" y="18452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52560" y="1618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Checklist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sustainable actions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275320" y="24414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8275320" y="24414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/home/claude/ecopilot/icons_gea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3445459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5448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Actions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15544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personal eco actions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77240" y="40416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777240" y="4041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9768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4526280" y="3291840"/>
            <a:ext cx="640080" cy="64008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4" descr="/home/claude/ecopilot/icons_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899" y="3445459"/>
            <a:ext cx="332842" cy="33284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0352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Planner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53035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sustainability plan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4526280" y="40416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 txBox="1"/>
          <p:nvPr/>
        </p:nvSpPr>
        <p:spPr>
          <a:xfrm>
            <a:off x="4526280" y="4041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8046720" y="30175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8275320" y="329184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5" descr="/home/claude/ecopilot/icons_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8939" y="3445459"/>
            <a:ext cx="332842" cy="33284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05256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450" dirty="0"/>
          </a:p>
        </p:txBody>
      </p:sp>
      <p:sp>
        <p:nvSpPr>
          <p:cNvPr id="42" name="Text 34"/>
          <p:cNvSpPr txBox="1"/>
          <p:nvPr/>
        </p:nvSpPr>
        <p:spPr>
          <a:xfrm>
            <a:off x="90525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sustainability context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275320" y="40416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6"/>
          <p:cNvSpPr txBox="1"/>
          <p:nvPr/>
        </p:nvSpPr>
        <p:spPr>
          <a:xfrm>
            <a:off x="8275320" y="40416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features: Eco Chat + AI Planner</a:t>
            </a: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Calculator</a:t>
            </a: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tracking: Checklist + Profile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CE42-78B2-902B-AAAC-EC69484F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1A1647-E7B3-775A-A28E-3B0968CE99D2}"/>
              </a:ext>
            </a:extLst>
          </p:cNvPr>
          <p:cNvSpPr txBox="1"/>
          <p:nvPr/>
        </p:nvSpPr>
        <p:spPr>
          <a:xfrm>
            <a:off x="522510" y="132581"/>
            <a:ext cx="5936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DEVELOPMENT WITH IBM BOB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42105B-77DD-CEA8-5347-E9ED7F2F02B7}"/>
              </a:ext>
            </a:extLst>
          </p:cNvPr>
          <p:cNvSpPr txBox="1"/>
          <p:nvPr/>
        </p:nvSpPr>
        <p:spPr>
          <a:xfrm>
            <a:off x="485192" y="3564515"/>
            <a:ext cx="112713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Architecture Planning: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Assisted in analyzing the existing application structure and planning the frontend, backend, API, and AI workflow. </a:t>
            </a:r>
          </a:p>
          <a:p>
            <a:pPr lvl="0" algn="just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Feature Development: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Supported implementation and refinement of the Eco Chat, AI Eco Action Planner, Sustainability Calculator, Daily Checklist, Profile, and Dashboard components. </a:t>
            </a:r>
          </a:p>
          <a:p>
            <a:pPr lvl="0" algn="just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AI Workflow Design: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Assisted in designing prompt structures, structured AI responses, profile-context handling, and sustainability recommendation workflows. </a:t>
            </a:r>
          </a:p>
          <a:p>
            <a:pPr lvl="0" algn="just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Debugging &amp; Validation: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Helped identify and resolve implementation issues, runtime errors, UI state problems, and integration issues during development. </a:t>
            </a:r>
          </a:p>
          <a:p>
            <a:pPr lvl="0"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D9FA2C1-A105-05E8-A1FF-012B6C785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8" y="882978"/>
            <a:ext cx="11159413" cy="25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4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F4F7617-E266-772A-DB80-C3883D1E3A2C}"/>
              </a:ext>
            </a:extLst>
          </p:cNvPr>
          <p:cNvSpPr txBox="1"/>
          <p:nvPr/>
        </p:nvSpPr>
        <p:spPr>
          <a:xfrm>
            <a:off x="4983795" y="788449"/>
            <a:ext cx="2577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9383FC-6AAB-06CD-617D-AFADAA66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66" y="1539551"/>
            <a:ext cx="11131421" cy="4702629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30C1B852-3721-2ADB-6D89-FCB5F5A5FF00}"/>
              </a:ext>
            </a:extLst>
          </p:cNvPr>
          <p:cNvSpPr txBox="1"/>
          <p:nvPr/>
        </p:nvSpPr>
        <p:spPr>
          <a:xfrm>
            <a:off x="599584" y="177288"/>
            <a:ext cx="4998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974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CD070C-CFD4-AF0D-C2E2-B4D00D5D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6" y="849086"/>
            <a:ext cx="11122089" cy="5579706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91FBC4D-E30E-E18E-641C-3669096EDC93}"/>
              </a:ext>
            </a:extLst>
          </p:cNvPr>
          <p:cNvSpPr txBox="1"/>
          <p:nvPr/>
        </p:nvSpPr>
        <p:spPr>
          <a:xfrm>
            <a:off x="5011790" y="63448"/>
            <a:ext cx="21479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ECO-CHAT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8939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4D4C1E-08C2-D835-578E-DCB9C826A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4" y="1023210"/>
            <a:ext cx="11457992" cy="535893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285C41BE-4C8C-9B87-DCE5-83B65DF58151}"/>
              </a:ext>
            </a:extLst>
          </p:cNvPr>
          <p:cNvSpPr txBox="1"/>
          <p:nvPr/>
        </p:nvSpPr>
        <p:spPr>
          <a:xfrm>
            <a:off x="5422337" y="110100"/>
            <a:ext cx="21479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ECO-CHAT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60268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AA1A1-8839-1B33-8D4E-43A8412D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3" y="1147665"/>
            <a:ext cx="11523306" cy="5458408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0B5C11C-F6BA-DD72-F037-9DBBAC965D78}"/>
              </a:ext>
            </a:extLst>
          </p:cNvPr>
          <p:cNvSpPr txBox="1"/>
          <p:nvPr/>
        </p:nvSpPr>
        <p:spPr>
          <a:xfrm>
            <a:off x="3424335" y="158621"/>
            <a:ext cx="5868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SUSTAINABILITY CALCULATOR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494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D0C6A1-F43F-2682-EE19-EB7081F69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0" y="821093"/>
            <a:ext cx="11887200" cy="580364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A3C1E53-D18D-FA99-7D06-7F3825B19092}"/>
              </a:ext>
            </a:extLst>
          </p:cNvPr>
          <p:cNvSpPr txBox="1"/>
          <p:nvPr/>
        </p:nvSpPr>
        <p:spPr>
          <a:xfrm>
            <a:off x="4881142" y="166079"/>
            <a:ext cx="35630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DAILY CHECKLIST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79285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261D66-E13D-629E-A15A-AA414A3B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8" y="951722"/>
            <a:ext cx="11616613" cy="5607698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BFAB4024-1824-47AA-DD96-945C966B767F}"/>
              </a:ext>
            </a:extLst>
          </p:cNvPr>
          <p:cNvSpPr txBox="1"/>
          <p:nvPr/>
        </p:nvSpPr>
        <p:spPr>
          <a:xfrm>
            <a:off x="3920092" y="184741"/>
            <a:ext cx="45894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ECO – ACTION PLANNER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68048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7D4DFF-261B-9F98-E1A6-3FC6AB03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9" y="569167"/>
            <a:ext cx="11625942" cy="60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6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7F127-6290-1699-6A7C-5178834DD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413" y="850150"/>
            <a:ext cx="6186195" cy="545628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FE695B8C-28A8-A641-EE47-AB92E12BB343}"/>
              </a:ext>
            </a:extLst>
          </p:cNvPr>
          <p:cNvSpPr txBox="1"/>
          <p:nvPr/>
        </p:nvSpPr>
        <p:spPr>
          <a:xfrm>
            <a:off x="3976078" y="88767"/>
            <a:ext cx="45894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</a:rPr>
              <a:t>ECO – ACTION PLANNER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374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sca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342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09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Non-judgmental recommendations; considers affordability, accessibility, safety, and distance.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ecopilot/icons_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18342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7099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is labeled; "How EcoPilot generates your plan" is explained to users.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2960" y="3749040"/>
            <a:ext cx="594360" cy="59436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ecopilot/icons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389168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7673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discourage harmful, discriminatory, manipulative, or unsupported recommendations.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34747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ecopilot/icons_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166" y="389168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37673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collected; local storage; server-side allowlisting; "Clear My Local Data" option.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0241C"/>
          </a:solidFill>
          <a:ln w="12700">
            <a:solidFill>
              <a:srgbClr val="10241C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guidance — not guaranteed or campus-specific facts.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leaf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342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099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18457" y="3154680"/>
            <a:ext cx="316774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sustainability awareness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reduced wastage potential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awareness of avoidable use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Campus: stronger sustainable culture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594360" cy="594360"/>
          </a:xfrm>
          <a:prstGeom prst="ellipse">
            <a:avLst/>
          </a:prstGeom>
          <a:solidFill>
            <a:srgbClr val="9C6B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ecopilot/icons_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18342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7099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15468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dependency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Eco Score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campus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large-scale impact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AE4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594360" cy="594360"/>
          </a:xfrm>
          <a:prstGeom prst="ellipse">
            <a:avLst/>
          </a:prstGeom>
          <a:solidFill>
            <a:srgbClr val="2A6F6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ecopilot/icons_flas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183428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7099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15468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Campus-specific RAG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data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waste recognition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gamification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impact points are expected / potential outcomes — not measured results.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81986" y="640080"/>
            <a:ext cx="822960" cy="822960"/>
          </a:xfrm>
          <a:prstGeom prst="ellipse">
            <a:avLst/>
          </a:prstGeom>
          <a:solidFill>
            <a:srgbClr val="74C69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ecopilot/icons_leaf_1024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96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8911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Awareness to Action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748561" y="246888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DC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"EcoPilot demonstrates how responsible AI can help college students understand sustainability-related habits, receive contextual guidance and take practical everyday actions."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870984" y="533058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58E3B4C-FEC8-1CF6-79DD-A53A2C5936E8}"/>
              </a:ext>
            </a:extLst>
          </p:cNvPr>
          <p:cNvSpPr txBox="1"/>
          <p:nvPr/>
        </p:nvSpPr>
        <p:spPr>
          <a:xfrm>
            <a:off x="2561401" y="3429000"/>
            <a:ext cx="7069198" cy="182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AEC7B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NAME : R Balaganesh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rgbClr val="AEC7B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AICTE STUDENT ID : </a:t>
            </a:r>
            <a:r>
              <a:rPr lang="en-IN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STU6585af04dfa0c1703259908</a:t>
            </a: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DCE8E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E-MAIL : </a:t>
            </a:r>
            <a:r>
              <a:rPr lang="en-US" sz="2000" dirty="0">
                <a:solidFill>
                  <a:srgbClr val="DCE8E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  <a:hlinkClick r:id="rId4"/>
              </a:rPr>
              <a:t>rbalaganesh2307@gmail.com</a:t>
            </a:r>
            <a:endParaRPr lang="en-US" sz="2000" dirty="0">
              <a:solidFill>
                <a:srgbClr val="DCE8E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DCE8E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COLLEGE : Achariya College of Engineering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936</Words>
  <Application>Microsoft Office PowerPoint</Application>
  <PresentationFormat>Widescreen</PresentationFormat>
  <Paragraphs>227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 ganesh</cp:lastModifiedBy>
  <cp:revision>12</cp:revision>
  <dcterms:created xsi:type="dcterms:W3CDTF">2026-09-20T09:11:36Z</dcterms:created>
  <dcterms:modified xsi:type="dcterms:W3CDTF">2026-09-20T14:21:10Z</dcterms:modified>
</cp:coreProperties>
</file>